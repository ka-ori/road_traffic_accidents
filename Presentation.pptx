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TURNING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DATA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INTO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LIFESAVING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63440" y="91440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traffic accident data to identify risk factors,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hotspots, and temporal patterns to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road safety interventions.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2377440"/>
            <a:ext cx="393192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400"/>
                </a:solidFill>
              </a:rPr>
              <a:t>SECTOR: PUBLIC SAFETY &amp; URBAN TRANSPORTATION ANALYTICS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3440" y="30906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KrishnaDevan Manju Liby  •  Ganga Raghuwanshi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Singh  •  Siddhant Sadashiv Raikar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Ahuja  •  Parul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4023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Satyaki Das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CONFIDENTIAL ANALYSIS  |  PUBLIC SAFETY SECTOR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Core Business Question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2801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authorities move beyond simple accident counts to identify the specific Severity Multipliers — environmental, temporal, and behavioral — that turn a standard traffic incident into a fatal outcome?"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651760" cy="2286000"/>
          </a:xfrm>
          <a:prstGeom prst="rect">
            <a:avLst/>
          </a:prstGeom>
          <a:solidFill>
            <a:srgbClr val="2A2A2A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Peak Severity windows to prioritize high-luminosity lighting and patrol deployments.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560320"/>
            <a:ext cx="2651760" cy="2286000"/>
          </a:xfrm>
          <a:prstGeom prst="rect">
            <a:avLst/>
          </a:prstGeom>
          <a:solidFill>
            <a:srgbClr val="2A2A2A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Intervention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474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AI-driven lane enforcement in Office Area hotspots, where behavioral violations dominate.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560320"/>
            <a:ext cx="2651760" cy="2286000"/>
          </a:xfrm>
          <a:prstGeom prst="rect">
            <a:avLst/>
          </a:prstGeom>
          <a:solidFill>
            <a:srgbClr val="2A2A2A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807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3474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the shift from volume-based to lethality-based intervention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DATA FOUNDATION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 &amp; Methodology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011680" cy="10058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12,316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Incident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2011680" cy="10058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2011680" cy="10058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Categories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(temporal bins)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188720"/>
            <a:ext cx="2011680" cy="10058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7512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Post-Sanitization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377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TRANSFORMATION (ETL)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54864" cy="3657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IMPUTATION 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2743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1,548 missing Driver Age Band values replaced with 'Unknown'. 4,429 blank Vehicle Defect entries assumed 'No Defect' via applied domain logic.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54864" cy="3657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735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32735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time data binned into 4 operational shifts: Night, Morning, Afternoon, Evening — enabling time-window severity analysis.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03904"/>
            <a:ext cx="54864" cy="3657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039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REDUCTION 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380390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high-cardinality or low-relevance columns removed (e.g., Owner of Vehicle, Sex of Casualty) to improve model performance.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334256"/>
            <a:ext cx="54864" cy="3657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342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  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34640" y="433425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duplicate removed. All categorical fields trimmed of whitespace to eliminate ghost categories during aggregation.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KPI FRAMEWORK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1.28%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Injury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warning signal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17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14.15%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2130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Injury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target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51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17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84.56%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17920" y="2130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Injury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volume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651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46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19,067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" y="3959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Casualties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human impact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3063240"/>
            <a:ext cx="2651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246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337560" y="3959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Vehicles/Crash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dynamic baseline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063240"/>
            <a:ext cx="2651760" cy="1645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246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217920" y="3959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Severity Index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North Star metric (night)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EDA KEY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Data Reveals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20624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" cy="17373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411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Visibility Paradox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65506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accidents occur under Daylight/Dry conditions — drivers become complacent when visibility improves. This inverts standard risk assumptions and argues for behavioral campaigns, not just infrastructure.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Speed awareness campaigns targeted at clear-weather commute periods.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420624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234440"/>
            <a:ext cx="411480" cy="17373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34440"/>
            <a:ext cx="411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Office Area Hotspots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65506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incident clustering in Office Areas during morning rush hours confirms a predictable, geographic risk pattern tied to commuter behavior.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0" y="2468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Enforce traffic management at office zone entry/exit points Mon–Fri 7–9AM.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420624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08960"/>
            <a:ext cx="411480" cy="17373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08960"/>
            <a:ext cx="411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Gap: Lane Indiscipline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52958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of incidents are caused by lane indiscipline — not vehicle failure. This is a behavioral problem, not a mechanical one, and requires enforcement and policy rather than fleet regulation.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4343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Camera enforcement for lane violations outperforms vehicle inspection regimes.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108960"/>
            <a:ext cx="420624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108960"/>
            <a:ext cx="411480" cy="17373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108960"/>
            <a:ext cx="411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Concentration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52958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and middle-aged males dominate high-frequency, low-severity incidents, creating a distinct risk profile that supports targeted intervention for this cohort.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0" y="4343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Telematics-based insurance can incentivize behavior change in this group.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ADVANCED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Volume vs. Severity: A Critical Distinction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7764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397764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AFTERNOON  |  HIGH VOLUME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1,303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 on Day 5 Afternoon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highest-volume risk block)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611880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INTERVENTION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Volume-control measures: congestion management, adaptive traffic signals, and peak-hour route diversion.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 FREQUENCY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234440"/>
            <a:ext cx="3977640" cy="34747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234440"/>
            <a:ext cx="3977640" cy="411480"/>
          </a:xfrm>
          <a:prstGeom prst="rect">
            <a:avLst/>
          </a:prstGeom>
          <a:solidFill>
            <a:srgbClr val="C9A200"/>
          </a:solidFill>
          <a:ln w="12700">
            <a:solidFill>
              <a:srgbClr val="C9A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344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NIGHT  |  HIGH SEVERITY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7373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2.16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983480" y="24688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Severity Index at Night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casualties per individual crash)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3063240"/>
            <a:ext cx="3611880" cy="54864"/>
          </a:xfrm>
          <a:prstGeom prst="rect">
            <a:avLst/>
          </a:prstGeom>
          <a:solidFill>
            <a:srgbClr val="C9A200"/>
          </a:solidFill>
          <a:ln w="12700">
            <a:solidFill>
              <a:srgbClr val="C9A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2004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INTERVENTION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34747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Severity-control measures: DUI enforcement, high-luminosity lighting, speed cameras on key night corridors.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42062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LETHALITY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2A2A2A"/>
          </a:solidFill>
          <a:ln w="6350">
            <a:solidFill>
              <a:srgbClr val="F5C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C400"/>
                </a:solidFill>
              </a:rPr>
              <a:t>KEY INSIGHT: Interventions cannot be monolithic — afternoon and night require fundamentally different strategies.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Intervention Prioritization Matrix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400"/>
                </a:solidFill>
              </a:rPr>
              <a:t>HIGH IMPACT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LOW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6200000">
            <a:off x="0" y="146304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400"/>
                </a:solidFill>
              </a:rPr>
              <a:t>URGENT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 rot="16200000">
            <a:off x="0" y="310896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PLAN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023360" cy="16002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/ URGENT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8562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monitoring for young drivers.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reach: ~30% of incident cohort.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023360" cy="1600200"/>
          </a:xfrm>
          <a:prstGeom prst="rect">
            <a:avLst/>
          </a:prstGeom>
          <a:solidFill>
            <a:srgbClr val="F5C400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/ URGENT 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8562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police to Office Areas, Day 5 Afternoon.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speed cameras on flat tangent roads near hubs.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casualty reduction: 15–25% in target zones.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4023360" cy="16002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/ PLAN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935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 awareness campaigns.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ROI; deprioritize until Quadrant 1 is funded.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4023360" cy="16002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/ PLAN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5935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High-luminosity street lighting on Night corridors.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 enforcement expansion.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data integration for precise heatmapping.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C400"/>
                </a:solidFill>
              </a:rPr>
              <a:t>★  Start here: maximum return on limited resources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ECONOMIC 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Case for Intervention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traffic accidents cost economies 3–5% of GDP annually (WHO). With 19,067 casualties recorded, the direct cost burden — emergency response, hospitalization, lost productivity — is substantial and measurable.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697480" cy="2606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48840"/>
            <a:ext cx="2697480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Response Cost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patrol deployment to Peak Danger Windows reduces emergency response time and unit costs. Resources shift from reactive dispatch to proactive coverage.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2148840"/>
            <a:ext cx="2697480" cy="2606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148840"/>
            <a:ext cx="2697480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Mortality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Reduction ROI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97180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the 14.15% serious and 1.28% fatal accident share with data-backed interventions offers the highest return. Each prevented fatality avoids $1–3M in societal cost (standard WHO/DOT estimates).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148840"/>
            <a:ext cx="2697480" cy="2606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148840"/>
            <a:ext cx="2697480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Property Damage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Infrastructure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97180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zone accidents cause disproportionate damage to public infrastructure. Traffic calming measures (avg. $15–50K per installation) pay back within 18–24 months via damage avoidance.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Note: Precise ROI projections require integration with municipal budget data and hospital admission records — a recommended next step.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LIMITATIONS &amp; 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 Caveats &amp; The Path Forward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77640" cy="35661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4864" cy="502920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28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 Unknown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665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Condition data is largely unknown — restricts mechanical failure analysis and may skew behavioral vs. mechanical causation conclusions.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54864" cy="502920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420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 Coordinates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27797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lat/long limits analysis to area categories (e.g., 'Office Area') rather than precise street-level hotspot mapping.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255264"/>
            <a:ext cx="54864" cy="502920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2552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Confidence Bounds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 like the 2.16 PSI are point estimates. With 1,548 imputed values, margin of error calculations are essential before policy commitment.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968496"/>
            <a:ext cx="54864" cy="502920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9684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Economic Linkage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hospital admission or property damage cost data to calculate economic impact per crash type.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1234440"/>
            <a:ext cx="3977640" cy="3566160"/>
          </a:xfrm>
          <a:prstGeom prst="rect">
            <a:avLst/>
          </a:prstGeom>
          <a:solidFill>
            <a:srgbClr val="2A2A2A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371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1828800"/>
            <a:ext cx="274320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828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21808" y="1828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Integration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21808" y="20665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GPS coordinates to enable precise street-level heatmapping and corridor-specific enforcement planning.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542032"/>
            <a:ext cx="274320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54203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21808" y="25420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Data Fusion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27797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with hospital admission records to verify severity, eliminate imputation bias, and calculate true economic cost per crash.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3255264"/>
            <a:ext cx="274320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25526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21808" y="325526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21808" y="34930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confidence intervals for the PSI and severity segmentation before using as policy-grade evidence.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3968496"/>
            <a:ext cx="274320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96849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21808" y="396849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Measurement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21808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interventions in 2 Office Area zones; measure severity index change after 90 days to establish causal evidence.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C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5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BOTTOM</a:t>
            </a:r>
            <a:endParaRPr lang="en-US" sz="5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proves that accident volume is a misleading proxy for risk. The real levers are temporal, geographic, and behavioral — and they are measurable.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731520"/>
            <a:ext cx="3931920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40680" y="822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crashes are deadlier per incident (PSI 2.16) — require severity-focused enforcement, not just volume reduction.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2148840"/>
            <a:ext cx="3931920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22402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Area hotspots on Day 5 afternoons are the highest-volume risk block — predictable and preventable.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3566160"/>
            <a:ext cx="3931920" cy="123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36576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of incidents are behavioral (lane discipline) — the solution is enforcement and incentives, not infrastructure alone.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1A1A"/>
                </a:solidFill>
              </a:rPr>
              <a:t>Turning Static Data into Lifesaving Intelligence  |  Public Safety &amp; Urban Transportation Analytics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Turning Static Data into Lifesaving Intelligence</dc:title>
  <dc:subject>PptxGenJS Presentation</dc:subject>
  <dc:creator>PptxGenJS</dc:creator>
  <cp:lastModifiedBy>PptxGenJS</cp:lastModifiedBy>
  <cp:revision>1</cp:revision>
  <dcterms:created xsi:type="dcterms:W3CDTF">2026-02-18T17:25:02Z</dcterms:created>
  <dcterms:modified xsi:type="dcterms:W3CDTF">2026-02-18T17:25:02Z</dcterms:modified>
</cp:coreProperties>
</file>